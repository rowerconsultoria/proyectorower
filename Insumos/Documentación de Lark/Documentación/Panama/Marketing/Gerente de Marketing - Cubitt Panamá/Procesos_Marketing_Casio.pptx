
<file path=[Content_Types].xml><?xml version="1.0" encoding="utf-8"?>
<Types xmlns="http://schemas.openxmlformats.org/package/2006/content-types"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9144000" cy="51435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Them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C2B4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54864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943600" y="-914400"/>
            <a:ext cx="4572000" cy="4572000"/>
          </a:xfrm>
          <a:prstGeom prst="ellipse">
            <a:avLst/>
          </a:prstGeom>
          <a:solidFill>
            <a:srgbClr val="263559">
              <a:alpha val="70000"/>
            </a:srgbClr>
          </a:solidFill>
          <a:ln w="12700">
            <a:solidFill>
              <a:srgbClr val="26355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8640" y="1097280"/>
            <a:ext cx="7315200" cy="2011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PROCESOS DEL DEPARTAMENTO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MARKETING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48640" y="2926080"/>
            <a:ext cx="64008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Casio / Kenex – Región Latinoamérica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48640" y="3474720"/>
            <a:ext cx="7772400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Manuales de Proceso  ·  Diagramas de Flujo  ·  KPIs  ·  Cuellos de Botella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48640" y="4800600"/>
            <a:ext cx="27432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Julio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82296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ESTRUCTURA DEL EQUIPO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429000" y="10972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429000" y="1143000"/>
            <a:ext cx="2286000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Kelly Marimon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429000" y="1508760"/>
            <a:ext cx="228600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Gerente Regional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4572000" y="1938528"/>
            <a:ext cx="0" cy="274320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8" id="8"/>
          <p:cNvCxnSpPr/>
          <p:nvPr/>
        </p:nvCxnSpPr>
        <p:spPr>
          <a:xfrm rot="0" flipH="false" flipV="false">
            <a:off x="1371600" y="2212848"/>
            <a:ext cx="6400800" cy="0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name="Connector 9" id="9"/>
          <p:cNvCxnSpPr/>
          <p:nvPr/>
        </p:nvCxnSpPr>
        <p:spPr>
          <a:xfrm rot="0" flipH="false" flipV="false">
            <a:off x="1280160" y="2212848"/>
            <a:ext cx="0" cy="256032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74320" y="2468880"/>
            <a:ext cx="2011680" cy="960120"/>
          </a:xfrm>
          <a:prstGeom prst="roundRect">
            <a:avLst>
              <a:gd name="adj" fmla="val 761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7472" y="2514600"/>
            <a:ext cx="18745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Kaethlyn García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7472" y="2834640"/>
            <a:ext cx="187452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Coordinadora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Panamá · Guatemala</a:t>
            </a:r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3337560" y="2212848"/>
            <a:ext cx="0" cy="256032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2331720" y="2468880"/>
            <a:ext cx="2011680" cy="960120"/>
          </a:xfrm>
          <a:prstGeom prst="roundRect">
            <a:avLst>
              <a:gd name="adj" fmla="val 761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404872" y="2514600"/>
            <a:ext cx="18745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María Isabel Lorenzo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404872" y="2834640"/>
            <a:ext cx="187452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Coordinadora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Ecuador · El Salvador</a:t>
            </a:r>
          </a:p>
        </p:txBody>
      </p:sp>
      <p:cxnSp>
        <p:nvCxnSpPr>
          <p:cNvPr name="Connector 17" id="17"/>
          <p:cNvCxnSpPr/>
          <p:nvPr/>
        </p:nvCxnSpPr>
        <p:spPr>
          <a:xfrm rot="0" flipH="false" flipV="false">
            <a:off x="5394960" y="2212848"/>
            <a:ext cx="0" cy="256032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389120" y="2468880"/>
            <a:ext cx="2011680" cy="960120"/>
          </a:xfrm>
          <a:prstGeom prst="roundRect">
            <a:avLst>
              <a:gd name="adj" fmla="val 761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62272" y="2514600"/>
            <a:ext cx="18745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Tania Ríos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62272" y="2834640"/>
            <a:ext cx="187452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Social Media Manager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Panamá · Guatemala</a:t>
            </a:r>
          </a:p>
        </p:txBody>
      </p:sp>
      <p:cxnSp>
        <p:nvCxnSpPr>
          <p:cNvPr name="Connector 21" id="21"/>
          <p:cNvCxnSpPr/>
          <p:nvPr/>
        </p:nvCxnSpPr>
        <p:spPr>
          <a:xfrm rot="0" flipH="false" flipV="false">
            <a:off x="7452360" y="2212848"/>
            <a:ext cx="0" cy="256032"/>
          </a:xfrm>
          <a:prstGeom prst="line">
            <a:avLst/>
          </a:prstGeom>
          <a:noFill/>
          <a:ln w="12700">
            <a:solidFill>
              <a:srgbClr val="64748B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46520" y="2468880"/>
            <a:ext cx="2011680" cy="960120"/>
          </a:xfrm>
          <a:prstGeom prst="roundRect">
            <a:avLst>
              <a:gd name="adj" fmla="val 761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19672" y="2514600"/>
            <a:ext cx="18745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Wesley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519672" y="2834640"/>
            <a:ext cx="187452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Diseñador Gráfico</a:t>
            </a:r>
            <a:endParaRPr lang="en-US" sz="1100"/>
          </a:p>
          <a:p>
            <a:pPr algn="ctr" marL="0" indent="0">
              <a:lnSpc>
                <a:spcPct val="100000"/>
              </a:lnSpc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Regional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5760" y="4434840"/>
            <a:ext cx="841248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Mercados cubiertos: Panamá · Guatemala · Ecuador · El Salvador · Rep. Dominicana · Costa Rica · Honduras · Nicaragua · Venezuela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MANUALES DE PROCESOS CLAVE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4320" y="105156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4320" y="105156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1C5F7A">
              <a:alpha val="100000"/>
            </a:srgbClr>
          </a:solidFill>
          <a:ln w="12700">
            <a:solidFill>
              <a:srgbClr val="1C5F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74320" y="1234440"/>
            <a:ext cx="2743200" cy="164592"/>
          </a:xfrm>
          <a:prstGeom prst="rect">
            <a:avLst/>
          </a:prstGeom>
          <a:solidFill>
            <a:srgbClr val="1C5F7A">
              <a:alpha val="100000"/>
            </a:srgbClr>
          </a:solidFill>
          <a:ln w="12700">
            <a:solidFill>
              <a:srgbClr val="1C5F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5760" y="109728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Planeación de Campañas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4048" y="146304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Briefing → Estrategia → Aprobación → Ejecución → Reporte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200400" y="105156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200400" y="105156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200400" y="1234440"/>
            <a:ext cx="2743200" cy="164592"/>
          </a:xfrm>
          <a:prstGeom prst="rect">
            <a:avLst/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291840" y="109728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Contenido Digital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10128" y="146304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Calendario editorial → Diseño → Revisión → Publicación → Análisis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26480" y="105156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26480" y="105156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7A4A1C">
              <a:alpha val="100000"/>
            </a:srgbClr>
          </a:solidFill>
          <a:ln w="12700">
            <a:solidFill>
              <a:srgbClr val="7A4A1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126480" y="1234440"/>
            <a:ext cx="2743200" cy="164592"/>
          </a:xfrm>
          <a:prstGeom prst="rect">
            <a:avLst/>
          </a:prstGeom>
          <a:solidFill>
            <a:srgbClr val="7A4A1C">
              <a:alpha val="100000"/>
            </a:srgbClr>
          </a:solidFill>
          <a:ln w="12700">
            <a:solidFill>
              <a:srgbClr val="7A4A1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17920" y="109728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Trade Marketing &amp; VMD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36208" y="146304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Brief POP → Diseño → Producción → Implementación en PDV → Reporte VMD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74320" y="297180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74320" y="297180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4A1C7A">
              <a:alpha val="100000"/>
            </a:srgbClr>
          </a:solidFill>
          <a:ln w="12700">
            <a:solidFill>
              <a:srgbClr val="4A1C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74320" y="3154680"/>
            <a:ext cx="2743200" cy="164592"/>
          </a:xfrm>
          <a:prstGeom prst="rect">
            <a:avLst/>
          </a:prstGeom>
          <a:solidFill>
            <a:srgbClr val="4A1C7A">
              <a:alpha val="100000"/>
            </a:srgbClr>
          </a:solidFill>
          <a:ln w="12700">
            <a:solidFill>
              <a:srgbClr val="4A1C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65760" y="301752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Proveedores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84048" y="338328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Necesidad → Briefing → Cotización → Aprobación → Seguimiento → Entrega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200400" y="297180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200400" y="297180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1C3A7A">
              <a:alpha val="100000"/>
            </a:srgbClr>
          </a:solidFill>
          <a:ln w="12700">
            <a:solidFill>
              <a:srgbClr val="1C3A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200400" y="3154680"/>
            <a:ext cx="2743200" cy="164592"/>
          </a:xfrm>
          <a:prstGeom prst="rect">
            <a:avLst/>
          </a:prstGeom>
          <a:solidFill>
            <a:srgbClr val="1C3A7A">
              <a:alpha val="100000"/>
            </a:srgbClr>
          </a:solidFill>
          <a:ln w="12700">
            <a:solidFill>
              <a:srgbClr val="1C3A7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291840" y="301752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Reportería &amp; Análisis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310128" y="338328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Recolección de datos → Consolidación → Análisis → Presentación ejecutiva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26480" y="2971800"/>
            <a:ext cx="2743200" cy="1783080"/>
          </a:xfrm>
          <a:prstGeom prst="roundRect">
            <a:avLst>
              <a:gd name="adj" fmla="val 512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126480" y="2971800"/>
            <a:ext cx="2743200" cy="347472"/>
          </a:xfrm>
          <a:prstGeom prst="roundRect">
            <a:avLst>
              <a:gd name="adj" fmla="val 26315"/>
            </a:avLst>
          </a:prstGeom>
          <a:solidFill>
            <a:srgbClr val="7A1C4A">
              <a:alpha val="100000"/>
            </a:srgbClr>
          </a:solidFill>
          <a:ln w="12700">
            <a:solidFill>
              <a:srgbClr val="7A1C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126480" y="3154680"/>
            <a:ext cx="2743200" cy="164592"/>
          </a:xfrm>
          <a:prstGeom prst="rect">
            <a:avLst/>
          </a:prstGeom>
          <a:solidFill>
            <a:srgbClr val="7A1C4A">
              <a:alpha val="100000"/>
            </a:srgbClr>
          </a:solidFill>
          <a:ln w="12700">
            <a:solidFill>
              <a:srgbClr val="7A1C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217920" y="3017520"/>
            <a:ext cx="2560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 de Presupuesto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36208" y="3383280"/>
            <a:ext cx="2523744" cy="11887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Planificación anual → Asignación por país → Control mensual → Cierre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SOP: PLANEACIÓN Y EJECUCIÓN DE CAMPAÑAS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" y="1234440"/>
            <a:ext cx="1417320" cy="960120"/>
          </a:xfrm>
          <a:prstGeom prst="roundRect">
            <a:avLst>
              <a:gd name="adj" fmla="val 9523"/>
            </a:avLst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" y="1280160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" y="1545336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BRIEF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" y="1819656"/>
            <a:ext cx="14173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Gerente Regional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1645920" y="1714500"/>
            <a:ext cx="182880" cy="0"/>
          </a:xfrm>
          <a:prstGeom prst="line">
            <a:avLst/>
          </a:prstGeom>
          <a:noFill/>
          <a:ln w="25400">
            <a:solidFill>
              <a:srgbClr val="C9A84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828800" y="1234440"/>
            <a:ext cx="1417320" cy="960120"/>
          </a:xfrm>
          <a:prstGeom prst="roundRect">
            <a:avLst>
              <a:gd name="adj" fmla="val 9523"/>
            </a:avLst>
          </a:prstGeom>
          <a:solidFill>
            <a:srgbClr val="1C5F7A">
              <a:alpha val="100000"/>
            </a:srgbClr>
          </a:solidFill>
          <a:ln w="12700">
            <a:solidFill>
              <a:srgbClr val="1C5F7A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828800" y="1280160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28800" y="1545336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ESTRATEGIA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828800" y="1819656"/>
            <a:ext cx="14173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Coordinadoras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0" flipH="false" flipV="false">
            <a:off x="3246120" y="1714500"/>
            <a:ext cx="182880" cy="0"/>
          </a:xfrm>
          <a:prstGeom prst="line">
            <a:avLst/>
          </a:prstGeom>
          <a:noFill/>
          <a:ln w="25400">
            <a:solidFill>
              <a:srgbClr val="C9A84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3429000" y="1234440"/>
            <a:ext cx="1417320" cy="960120"/>
          </a:xfrm>
          <a:prstGeom prst="roundRect">
            <a:avLst>
              <a:gd name="adj" fmla="val 9523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29000" y="1280160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1545336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APROBACIÓN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29000" y="1819656"/>
            <a:ext cx="14173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Gerente + Casio Latam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0" flipH="false" flipV="false">
            <a:off x="4846320" y="1714500"/>
            <a:ext cx="182880" cy="0"/>
          </a:xfrm>
          <a:prstGeom prst="line">
            <a:avLst/>
          </a:prstGeom>
          <a:noFill/>
          <a:ln w="25400">
            <a:solidFill>
              <a:srgbClr val="C9A84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5029200" y="1234440"/>
            <a:ext cx="1417320" cy="960120"/>
          </a:xfrm>
          <a:prstGeom prst="roundRect">
            <a:avLst>
              <a:gd name="adj" fmla="val 9523"/>
            </a:avLst>
          </a:prstGeom>
          <a:solidFill>
            <a:srgbClr val="7A4A1C">
              <a:alpha val="100000"/>
            </a:srgbClr>
          </a:solidFill>
          <a:ln w="12700">
            <a:solidFill>
              <a:srgbClr val="7A4A1C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29200" y="1280160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29200" y="1545336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EJECUCIÓN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29200" y="1819656"/>
            <a:ext cx="14173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Coord. + Diseñador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0" flipH="false" flipV="false">
            <a:off x="6446520" y="1714500"/>
            <a:ext cx="182880" cy="0"/>
          </a:xfrm>
          <a:prstGeom prst="line">
            <a:avLst/>
          </a:prstGeom>
          <a:noFill/>
          <a:ln w="25400">
            <a:solidFill>
              <a:srgbClr val="C9A84C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6629400" y="1234440"/>
            <a:ext cx="1417320" cy="960120"/>
          </a:xfrm>
          <a:prstGeom prst="roundRect">
            <a:avLst>
              <a:gd name="adj" fmla="val 9523"/>
            </a:avLst>
          </a:prstGeom>
          <a:solidFill>
            <a:srgbClr val="4A1C7A">
              <a:alpha val="100000"/>
            </a:srgbClr>
          </a:solidFill>
          <a:ln w="12700">
            <a:solidFill>
              <a:srgbClr val="4A1C7A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29400" y="1280160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29400" y="1545336"/>
            <a:ext cx="141732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29400" y="1819656"/>
            <a:ext cx="1417320" cy="320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F0D687"/>
                </a:solidFill>
                <a:latin typeface="Calibri"/>
                <a:ea typeface="Calibri"/>
                <a:cs typeface="Calibri"/>
                <a:sym typeface="Calibri"/>
              </a:rPr>
              <a:t>Todas las áreas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28600" y="2377440"/>
            <a:ext cx="1417320" cy="2423160"/>
          </a:xfrm>
          <a:prstGeom prst="roundRect">
            <a:avLst>
              <a:gd name="adj" fmla="val 51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301752" y="24688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Objetivo de campaña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01752" y="29260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Público objetivo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01752" y="33832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Presupuesto asignado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01752" y="38404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Fechas clave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01752" y="42976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Mercados involucrados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828800" y="2377440"/>
            <a:ext cx="1417320" cy="2423160"/>
          </a:xfrm>
          <a:prstGeom prst="roundRect">
            <a:avLst>
              <a:gd name="adj" fmla="val 51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901952" y="24688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Canal (ATL/BTL/Digital)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901952" y="29260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Mensaje principal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1901952" y="33832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Key visual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901952" y="38404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Plan de medios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901952" y="42976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Alianzas (influencers)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3429000" y="2377440"/>
            <a:ext cx="1417320" cy="2423160"/>
          </a:xfrm>
          <a:prstGeom prst="roundRect">
            <a:avLst>
              <a:gd name="adj" fmla="val 51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3502152" y="24688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Revisión Gerente Regional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3502152" y="29260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Validación Casio Latam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3502152" y="33832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Ajustes según feedback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3502152" y="38404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Aprobación documentada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5029200" y="2377440"/>
            <a:ext cx="1417320" cy="2423160"/>
          </a:xfrm>
          <a:prstGeom prst="roundRect">
            <a:avLst>
              <a:gd name="adj" fmla="val 51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5102352" y="24688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Producción de materiales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5102352" y="29260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Coord. con proveedores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5102352" y="33832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Publicación/activación</a:t>
            </a:r>
            <a:endParaRPr lang="en-US" sz="1100"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5102352" y="38404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Monitoreo en tiempo real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6629400" y="2377440"/>
            <a:ext cx="1417320" cy="2423160"/>
          </a:xfrm>
          <a:prstGeom prst="roundRect">
            <a:avLst>
              <a:gd name="adj" fmla="val 51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6702552" y="24688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Recopilación de métricas</a:t>
            </a:r>
            <a:endParaRPr lang="en-US" sz="1100"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6702552" y="29260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Análisis de resultados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6702552" y="33832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Reporte mensual Casio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6702552" y="3840480"/>
            <a:ext cx="1307592" cy="411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8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• Archivo de aprendizajes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SOP: GESTIÓN DE CONTENIDO DIGITAL Y SOCIAL MEDIA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2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4320" y="1005840"/>
            <a:ext cx="4114800" cy="3931920"/>
          </a:xfrm>
          <a:prstGeom prst="roundRect">
            <a:avLst>
              <a:gd name="adj" fmla="val 232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5760" y="1078992"/>
            <a:ext cx="39319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CICLO SEMANAL DE CONTENIDO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11480" y="1554480"/>
            <a:ext cx="292608" cy="29260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11480" y="1554480"/>
            <a:ext cx="29260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77240" y="1554480"/>
            <a:ext cx="777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Lunes: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36192" y="1536192"/>
            <a:ext cx="2724912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Reunión de status digital (Tania + Coordinadoras)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11480" y="2212848"/>
            <a:ext cx="292608" cy="29260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11480" y="2212848"/>
            <a:ext cx="29260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77240" y="2212848"/>
            <a:ext cx="777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Martes: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36192" y="2194560"/>
            <a:ext cx="2724912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Revisión calendario editorial + ajustes de campaña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11480" y="2871216"/>
            <a:ext cx="292608" cy="29260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11480" y="2871216"/>
            <a:ext cx="29260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7240" y="2871216"/>
            <a:ext cx="777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Miércoles: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36192" y="2852928"/>
            <a:ext cx="2724912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Entrega de artes finales por Wesley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11480" y="3529584"/>
            <a:ext cx="292608" cy="29260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11480" y="3529584"/>
            <a:ext cx="29260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7240" y="3529584"/>
            <a:ext cx="777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Jueves: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536192" y="3511296"/>
            <a:ext cx="2724912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Revisión y aprobación de contenido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11480" y="4187952"/>
            <a:ext cx="292608" cy="29260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11480" y="4187952"/>
            <a:ext cx="292608" cy="29260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77240" y="4187952"/>
            <a:ext cx="7772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Viernes: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536192" y="4169664"/>
            <a:ext cx="2724912" cy="38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Programación de publicaciones de la semana siguiente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572000" y="1005840"/>
            <a:ext cx="4297680" cy="3931920"/>
          </a:xfrm>
          <a:prstGeom prst="roundRect">
            <a:avLst>
              <a:gd name="adj" fmla="val 232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663440" y="1078992"/>
            <a:ext cx="411480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RESPONSABILIDADES POR ROL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63440" y="1508760"/>
            <a:ext cx="4114800" cy="713232"/>
          </a:xfrm>
          <a:prstGeom prst="roundRect">
            <a:avLst>
              <a:gd name="adj" fmla="val 8973"/>
            </a:avLst>
          </a:prstGeom>
          <a:solidFill>
            <a:srgbClr val="F4F6FA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754880" y="1563624"/>
            <a:ext cx="3931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Tania Ríos (SM Manager)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754880" y="1810512"/>
            <a:ext cx="39319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Estrategia de contenido · Calendarios · Community management · Influencers · Reportes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63440" y="2313432"/>
            <a:ext cx="4114800" cy="713232"/>
          </a:xfrm>
          <a:prstGeom prst="roundRect">
            <a:avLst>
              <a:gd name="adj" fmla="val 8973"/>
            </a:avLst>
          </a:prstGeom>
          <a:solidFill>
            <a:srgbClr val="F4F6FA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754880" y="2368296"/>
            <a:ext cx="3931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M. Isabel Lorenzo (Ecuador)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754880" y="2615184"/>
            <a:ext cx="39319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Social Media Ecuador · Contenido local · Meta Ads · Influencers locales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4663440" y="3118104"/>
            <a:ext cx="4114800" cy="713232"/>
          </a:xfrm>
          <a:prstGeom prst="roundRect">
            <a:avLst>
              <a:gd name="adj" fmla="val 8973"/>
            </a:avLst>
          </a:prstGeom>
          <a:solidFill>
            <a:srgbClr val="F4F6FA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754880" y="3172968"/>
            <a:ext cx="3931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Wesley (Diseñador)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754880" y="3419856"/>
            <a:ext cx="39319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Key visuals · Artes para RRSS · Adaptaciones por formato y mercado · POP digital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4663440" y="3922776"/>
            <a:ext cx="4114800" cy="713232"/>
          </a:xfrm>
          <a:prstGeom prst="roundRect">
            <a:avLst>
              <a:gd name="adj" fmla="val 8973"/>
            </a:avLst>
          </a:prstGeom>
          <a:solidFill>
            <a:srgbClr val="F4F6FA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754880" y="3977640"/>
            <a:ext cx="3931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Kaethlyn García (Coord.)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4754880" y="4224528"/>
            <a:ext cx="3931920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Email Marketing · Automatizaciones · Seguimiento de paid media regional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KPIs OPERATIVOS, COMERCIALES Y DIGITALES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4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74320" y="960120"/>
          <a:ext cx="7680960" cy="3621024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60320"/>
                <a:gridCol w="1280160"/>
                <a:gridCol w="2468880"/>
                <a:gridCol w="1371600"/>
              </a:tblGrid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Categoría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Dueño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Frecuencia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Ejecución de campañas vs. plan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Operativo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Coordinadoras (por mercado)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Presupuesto ejecutado vs. asignado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Financiero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Regional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Crecimiento de seguidores por marca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Tania Ríos / M. Isabel Lorenzo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Engagement rate por cuenta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Tania Ríos / M. Isabel Lorenzo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Alcance de campañas pagadas (Paid Media)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Coordinadoras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rate / CTR Email Marketing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Kaethlyn García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N.º de activaciones / eventos realizados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Operativo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Coordinadoras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Trimestral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Reporte VMD (Visual Merchandising)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Tania Ríos / Kaethlyn García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Trimestral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Cumplimiento planes de marketing por país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Operativo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Regional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>
                        <a:alpha val="100000"/>
                      </a:srgbClr>
                    </a:solidFill>
                  </a:tcPr>
                </a:tc>
              </a:tr>
              <a:tr h="329184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ROI de campañas digitales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Financiero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Regional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950">
                          <a:solidFill>
                            <a:srgbClr val="0F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Trimestral</a:t>
                      </a:r>
                      <a:endParaRPr lang="en-US" sz="1100"/>
                    </a:p>
                  </a:txBody>
                  <a:tcPr anchor="t" marL="91440" marR="91440" marT="45720" marB="45720">
                    <a:lnL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CUELLOS DE BOTELLA IDENTIFICADOS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74320" y="1005840"/>
            <a:ext cx="8595360" cy="713232"/>
          </a:xfrm>
          <a:prstGeom prst="roundRect">
            <a:avLst>
              <a:gd name="adj" fmla="val 1025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772400" y="1188720"/>
            <a:ext cx="1005840" cy="320040"/>
          </a:xfrm>
          <a:prstGeom prst="roundRect">
            <a:avLst>
              <a:gd name="adj" fmla="val 17142"/>
            </a:avLst>
          </a:prstGeom>
          <a:solidFill>
            <a:srgbClr val="B91C1C">
              <a:alpha val="100000"/>
            </a:srgbClr>
          </a:solidFill>
          <a:ln w="12700">
            <a:solidFill>
              <a:srgbClr val="B91C1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772400" y="1207008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" y="1097280"/>
            <a:ext cx="1645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Reportería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94560" y="1097280"/>
            <a:ext cx="539496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Consolidación manual de datos de múltiples mercados sin plantilla estándar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74320" y="1810512"/>
            <a:ext cx="8595360" cy="713232"/>
          </a:xfrm>
          <a:prstGeom prst="roundRect">
            <a:avLst>
              <a:gd name="adj" fmla="val 1025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772400" y="1993392"/>
            <a:ext cx="1005840" cy="320040"/>
          </a:xfrm>
          <a:prstGeom prst="roundRect">
            <a:avLst>
              <a:gd name="adj" fmla="val 17142"/>
            </a:avLst>
          </a:prstGeom>
          <a:solidFill>
            <a:srgbClr val="B91C1C">
              <a:alpha val="100000"/>
            </a:srgbClr>
          </a:solidFill>
          <a:ln w="12700">
            <a:solidFill>
              <a:srgbClr val="B91C1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72400" y="2011680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" y="1901952"/>
            <a:ext cx="1645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Aprobaciones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194560" y="1901952"/>
            <a:ext cx="539496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Flujo de aprobación de campañas y materiales no está documentado ni centralizado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74320" y="2615184"/>
            <a:ext cx="8595360" cy="713232"/>
          </a:xfrm>
          <a:prstGeom prst="roundRect">
            <a:avLst>
              <a:gd name="adj" fmla="val 1025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72400" y="2798064"/>
            <a:ext cx="1005840" cy="320040"/>
          </a:xfrm>
          <a:prstGeom prst="roundRect">
            <a:avLst>
              <a:gd name="adj" fmla="val 17142"/>
            </a:avLst>
          </a:prstGeom>
          <a:solidFill>
            <a:srgbClr val="B45309">
              <a:alpha val="100000"/>
            </a:srgbClr>
          </a:solidFill>
          <a:ln w="12700">
            <a:solidFill>
              <a:srgbClr val="B4530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772400" y="2816352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" y="2706624"/>
            <a:ext cx="1645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Paid Media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194560" y="2706624"/>
            <a:ext cx="539496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Seguimiento de campañas pagadas fragmentado entre coordinadoras y agencias externas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74320" y="3419856"/>
            <a:ext cx="8595360" cy="713232"/>
          </a:xfrm>
          <a:prstGeom prst="roundRect">
            <a:avLst>
              <a:gd name="adj" fmla="val 1025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772400" y="3602736"/>
            <a:ext cx="1005840" cy="320040"/>
          </a:xfrm>
          <a:prstGeom prst="roundRect">
            <a:avLst>
              <a:gd name="adj" fmla="val 17142"/>
            </a:avLst>
          </a:prstGeom>
          <a:solidFill>
            <a:srgbClr val="B45309">
              <a:alpha val="100000"/>
            </a:srgbClr>
          </a:solidFill>
          <a:ln w="12700">
            <a:solidFill>
              <a:srgbClr val="B4530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772400" y="3621024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57200" y="3511296"/>
            <a:ext cx="1645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Trade Marketing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194560" y="3511296"/>
            <a:ext cx="539496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 proceso estándar para seguimiento de implementación POP en puntos de venta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274320" y="4224528"/>
            <a:ext cx="8595360" cy="713232"/>
          </a:xfrm>
          <a:prstGeom prst="roundRect">
            <a:avLst>
              <a:gd name="adj" fmla="val 1025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72400" y="4407408"/>
            <a:ext cx="1005840" cy="320040"/>
          </a:xfrm>
          <a:prstGeom prst="roundRect">
            <a:avLst>
              <a:gd name="adj" fmla="val 17142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772400" y="4425696"/>
            <a:ext cx="100584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Bajo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7200" y="4315968"/>
            <a:ext cx="1645920" cy="2560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Comunicación Regional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194560" y="4315968"/>
            <a:ext cx="5394960" cy="5029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Reuniones de status sin agenda documentada ni minuta formal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6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9144000" cy="914400"/>
          </a:xfrm>
          <a:prstGeom prst="rect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" y="137160"/>
            <a:ext cx="7772400" cy="5943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PROPUESTAS DE MEJORA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046720" y="164592"/>
            <a:ext cx="822960" cy="2743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C9A84C"/>
                </a:solidFill>
                <a:latin typeface="Calibri"/>
                <a:ea typeface="Calibri"/>
                <a:cs typeface="Calibri"/>
                <a:sym typeface="Calibri"/>
              </a:rPr>
              <a:t>Req. 5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" y="100584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8328" y="111556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8328" y="112471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37360" y="11430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37360" y="116128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8328" y="155448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Dashboard de Reportería Unificado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8328" y="192024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Plantilla estándar (Lark / Google Sheets) para consolidar KPIs de todos los mercados mensualmente. Dueño: Gerente Regional.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172968" y="100584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282696" y="111556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82696" y="112471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81728" y="11430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81728" y="116128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282696" y="155448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Flujo de Aprobación Documentado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282696" y="192024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SOP con niveles de aprobación (Coordinadora → Gerente → Casio Latam) y tiempos máximos de respuesta. Herramienta: Lark / Asana.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17336" y="100584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7064" y="111556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7064" y="112471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6096" y="11430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1A6B4A">
              <a:alpha val="100000"/>
            </a:srgbClr>
          </a:solidFill>
          <a:ln w="12700">
            <a:solidFill>
              <a:srgbClr val="1A6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6096" y="116128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7064" y="155448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Calendario Regional Centralizado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7064" y="192024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Calendario compartido con campañas, activaciones y fechas clave por mercado. Sincronizado con el equipo comercial.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28600" y="297180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38328" y="308152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38328" y="309067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737360" y="31089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B45309">
              <a:alpha val="100000"/>
            </a:srgbClr>
          </a:solidFill>
          <a:ln w="12700">
            <a:solidFill>
              <a:srgbClr val="B4530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737360" y="312724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Mediano plazo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38328" y="352044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Protocolo de Trade Marketing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38328" y="388620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Estandarizar proceso POP: checklist de instalación, fotos de evidencia, reporte VMD digital por mercado.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172968" y="297180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3282696" y="308152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3282696" y="309067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4681728" y="31089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B45309">
              <a:alpha val="100000"/>
            </a:srgbClr>
          </a:solidFill>
          <a:ln w="12700">
            <a:solidFill>
              <a:srgbClr val="B4530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4681728" y="312724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Mediano plazo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3282696" y="352044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Gestión Centralizada de Paid Media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3282696" y="388620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Proceso único de seguimiento de campañas pagadas con acceso de todas las coordinadoras y reporte semanal.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117336" y="2971800"/>
            <a:ext cx="2743200" cy="1828800"/>
          </a:xfrm>
          <a:prstGeom prst="roundRect">
            <a:avLst>
              <a:gd name="adj" fmla="val 499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2E8F0">
                <a:alpha val="100000"/>
              </a:srgbClr>
            </a:solidFill>
            <a:prstDash val="solid"/>
          </a:ln>
          <a:effectLst>
            <a:outerShdw dir="2700000" dist="38100" blurRad="101600" kx="0" ky="0" algn="bl" sx="100000" sy="100000" rotWithShape="false">
              <a:srgbClr val="000000">
                <a:alpha val="13000"/>
              </a:srgbClr>
            </a:outerShdw>
          </a:effectLst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227064" y="3081528"/>
            <a:ext cx="384048" cy="384048"/>
          </a:xfrm>
          <a:prstGeom prst="ellipse">
            <a:avLst/>
          </a:prstGeom>
          <a:solidFill>
            <a:srgbClr val="1C2B4A">
              <a:alpha val="100000"/>
            </a:srgbClr>
          </a:solidFill>
          <a:ln w="12700">
            <a:solidFill>
              <a:srgbClr val="1C2B4A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227064" y="3090672"/>
            <a:ext cx="384048" cy="3474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C9A84C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626096" y="310896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B91C1C">
              <a:alpha val="100000"/>
            </a:srgbClr>
          </a:solidFill>
          <a:ln w="12700">
            <a:solidFill>
              <a:srgbClr val="B91C1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626096" y="3127248"/>
            <a:ext cx="1097280" cy="21945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7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Inmediato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227064" y="3520440"/>
            <a:ext cx="2523744" cy="3657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1C2B4A"/>
                </a:solidFill>
                <a:latin typeface="Calibri"/>
                <a:ea typeface="Calibri"/>
                <a:cs typeface="Calibri"/>
                <a:sym typeface="Calibri"/>
              </a:rPr>
              <a:t>Minutas y Agenda Estándar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6227064" y="3886200"/>
            <a:ext cx="2523744" cy="8412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Formalizar reunión semanal de status con agenda previa y minuta de acuerdos para mejorar seguimiento.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C2B4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8000" y="-1371600"/>
            <a:ext cx="5029200" cy="5029200"/>
          </a:xfrm>
          <a:prstGeom prst="ellipse">
            <a:avLst/>
          </a:prstGeom>
          <a:solidFill>
            <a:srgbClr val="263559">
              <a:alpha val="65000"/>
            </a:srgbClr>
          </a:solidFill>
          <a:ln w="12700">
            <a:solidFill>
              <a:srgbClr val="263559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5029200"/>
            <a:ext cx="9144000" cy="114300"/>
          </a:xfrm>
          <a:prstGeom prst="rect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8640" y="640080"/>
            <a:ext cx="5486400" cy="5486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91440" rIns="91440" tIns="45720" bIns="4572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PRÓXIMOS PASOS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57200" y="1490472"/>
            <a:ext cx="347472" cy="347472"/>
          </a:xfrm>
          <a:prstGeom prst="ellipse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57200" y="1499616"/>
            <a:ext cx="347472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0120" y="1472184"/>
            <a:ext cx="685800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y completar la información de procesos con cada integrante del equipo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" y="2157984"/>
            <a:ext cx="347472" cy="347472"/>
          </a:xfrm>
          <a:prstGeom prst="ellipse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7200" y="2167128"/>
            <a:ext cx="347472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0120" y="2139696"/>
            <a:ext cx="685800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Priorizar cuellos de botella con la dirección y asignar responsables de mejora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7200" y="2825496"/>
            <a:ext cx="347472" cy="347472"/>
          </a:xfrm>
          <a:prstGeom prst="ellipse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" y="2834640"/>
            <a:ext cx="347472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0120" y="2807208"/>
            <a:ext cx="685800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Implementar plantilla de reportería unificada en el próximo cierre mensual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" y="3493008"/>
            <a:ext cx="347472" cy="347472"/>
          </a:xfrm>
          <a:prstGeom prst="ellipse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" y="3502152"/>
            <a:ext cx="347472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60120" y="3474720"/>
            <a:ext cx="685800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Documentar el flujo de aprobación y comunicarlo al equipo en reunión de status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" y="4160520"/>
            <a:ext cx="347472" cy="347472"/>
          </a:xfrm>
          <a:prstGeom prst="ellipse">
            <a:avLst/>
          </a:prstGeom>
          <a:solidFill>
            <a:srgbClr val="C9A84C">
              <a:alpha val="100000"/>
            </a:srgbClr>
          </a:solidFill>
          <a:ln w="12700">
            <a:solidFill>
              <a:srgbClr val="C9A84C">
                <a:alpha val="100000"/>
              </a:srgbClr>
            </a:solidFill>
            <a:prstDash val="solid"/>
          </a:ln>
        </p:spPr>
        <p:txBody>
          <a:bodyPr anchor="t" rtlCol="false" lIns="91440" rIns="91440" tIns="45720" bIns="4572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" y="4169664"/>
            <a:ext cx="347472" cy="31089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C2B4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0120" y="4142232"/>
            <a:ext cx="6858000" cy="42062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Definir calendario de revisión de procesos (trimestral recomendado)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